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46b6434-3da5-9d47-5556-565272fcbc67}">
          <p14:sldIdLst>
            <p14:sldId id="256"/>
            <p14:sldId id="257"/>
          </p14:sldIdLst>
        </p14:section>
        <p14:section name="Risques financiers" id="{43b2733d-fcbd-dcf0-2a87-c0e08852b676}">
          <p14:sldIdLst>
            <p14:sldId id="258"/>
            <p14:sldId id="259"/>
          </p14:sldIdLst>
        </p14:section>
        <p14:section name="Risques humains" id="{7be02242-203c-c760-037e-dda4ab2e8721}">
          <p14:sldIdLst>
            <p14:sldId id="260"/>
            <p14:sldId id="261"/>
          </p14:sldIdLst>
        </p14:section>
        <p14:section name="Risques réputationnels" id="{59044a92-54a1-67c7-5a7e-57ccf4ebb919}">
          <p14:sldIdLst>
            <p14:sldId id="262"/>
            <p14:sldId id="263"/>
          </p14:sldIdLst>
        </p14:section>
        <p14:section name="Synthèse" id="{a535b968-0ae9-0e27-26e0-7cd361d4f836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chapitre 8 : trois grandes familles de risques auxquelles toute entreprise est exposée.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Définir la notion de risque, puis annoncer les trois familles étudiées. La formule probabilité × gravité servira pour la cartographie des risques.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risques financiers concernent l'argent de l'entreprise. L'exemple montre l'effet domino : un impayé peut provoquer un problème de liquidité.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risque financier, l'entreprise dispose d'outils. L'assurance-crédit et l'affacturage permettent de transférer le risque d'impayé.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risques humains concernent les personnes qui travaillent dans l'entreprise. Ils ont des conséquences sur la productivité et la responsabilité de l'employeur.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DUERP est obligatoire dès le premier salarié. Les autres leviers relèvent de la gestion des ressources humaines.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réputation se construit en des années et peut se perdre en quelques heures, surtout avec les réseaux sociaux. Deux exemples réels.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gestion d'une crise de réputation se prépare avant, se pilote pendant et se répare après.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familles de risques ne sont pas indépendantes : un risque humain peut devenir réputationnel puis financier.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cartographie (ou matrice) des risques permet de hiérarchiser : on ne traite pas tous les risques de la même façon.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: la gestion des risques est une démarche globale en trois temps — identifier, évaluer, prévenir.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rgbClr val="E9B27A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1DB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B27A"/>
                </a:solidFill>
              </a:rPr>
              <a:t>CHAPITRE 8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Les risques financiers, humains et réputationnels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9D1DB"/>
                </a:solidFill>
              </a:rPr>
              <a:t>Identifier, évaluer et prévenir les risques de l'entreprise</a:t>
            </a:r>
            <a:endParaRPr lang="en-US" sz="1800" dirty="0"/>
          </a:p>
        </p:txBody>
      </p:sp>
      <p:sp>
        <p:nvSpPr>
          <p:cNvPr id="5" name="Financiers cercle"/>
          <p:cNvSpPr/>
          <p:nvPr/>
        </p:nvSpPr>
        <p:spPr>
          <a:xfrm>
            <a:off x="548640" y="3703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inanciers icône" descr="Financ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38697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3703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Financiers</a:t>
            </a:r>
            <a:endParaRPr lang="en-US" sz="1400" dirty="0"/>
          </a:p>
        </p:txBody>
      </p:sp>
      <p:sp>
        <p:nvSpPr>
          <p:cNvPr id="8" name="Humains cercle"/>
          <p:cNvSpPr/>
          <p:nvPr/>
        </p:nvSpPr>
        <p:spPr>
          <a:xfrm>
            <a:off x="2651760" y="370332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Humains icône" descr="Huma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181" y="386974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29000" y="3703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Humains</a:t>
            </a:r>
            <a:endParaRPr lang="en-US" sz="1400" dirty="0"/>
          </a:p>
        </p:txBody>
      </p:sp>
      <p:sp>
        <p:nvSpPr>
          <p:cNvPr id="11" name="Réputationnels cercle"/>
          <p:cNvSpPr/>
          <p:nvPr/>
        </p:nvSpPr>
        <p:spPr>
          <a:xfrm>
            <a:off x="4754880" y="3703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Réputationnels icône" descr="Réputationne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386974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532120" y="37033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Réputationnels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Qu'est-ce qu'un risque 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risque est un événement incertain qui, s'il se produit, peut empêcher l'entreprise d'atteindre ses objectifs.</a:t>
            </a:r>
            <a:endParaRPr lang="en-US" sz="1600" dirty="0"/>
          </a:p>
        </p:txBody>
      </p:sp>
      <p:sp>
        <p:nvSpPr>
          <p:cNvPr id="4" name="Formule"/>
          <p:cNvSpPr/>
          <p:nvPr/>
        </p:nvSpPr>
        <p:spPr>
          <a:xfrm>
            <a:off x="457200" y="2331720"/>
            <a:ext cx="39319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Risque = Probabilité × Gravité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Plus un événement est probable et grave, plus il faut s'en protéger en priorité.</a:t>
            </a:r>
            <a:endParaRPr lang="en-US" sz="2200" dirty="0"/>
          </a:p>
        </p:txBody>
      </p:sp>
      <p:sp>
        <p:nvSpPr>
          <p:cNvPr id="6" name="Financiers cercle"/>
          <p:cNvSpPr/>
          <p:nvPr/>
        </p:nvSpPr>
        <p:spPr>
          <a:xfrm>
            <a:off x="4846320" y="12344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Financiers icône" descr="Financi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628" y="14127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15000" y="11430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Financiers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Touchent l'argent : trésorerie, créances, placements</a:t>
            </a:r>
            <a:endParaRPr lang="en-US" sz="1800" dirty="0"/>
          </a:p>
        </p:txBody>
      </p:sp>
      <p:sp>
        <p:nvSpPr>
          <p:cNvPr id="9" name="Humains cercle"/>
          <p:cNvSpPr/>
          <p:nvPr/>
        </p:nvSpPr>
        <p:spPr>
          <a:xfrm>
            <a:off x="4846320" y="24231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Humains icône" descr="Humai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260146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23317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Humains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Touchent les personnes : santé, compétences, climat social</a:t>
            </a:r>
            <a:endParaRPr lang="en-US" sz="1800" dirty="0"/>
          </a:p>
        </p:txBody>
      </p:sp>
      <p:sp>
        <p:nvSpPr>
          <p:cNvPr id="12" name="Réputationnels cercle"/>
          <p:cNvSpPr/>
          <p:nvPr/>
        </p:nvSpPr>
        <p:spPr>
          <a:xfrm>
            <a:off x="4846320" y="361188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Réputationnels icône" descr="Réputationne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8" y="379018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0" y="3520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Réputationnels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Touchent l'image : confiance des clients et du public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risques financiers</a:t>
            </a:r>
            <a:endParaRPr lang="en-US" sz="3000" dirty="0"/>
          </a:p>
        </p:txBody>
      </p:sp>
      <p:sp>
        <p:nvSpPr>
          <p:cNvPr id="3" name="Risque de crédit"/>
          <p:cNvSpPr/>
          <p:nvPr/>
        </p:nvSpPr>
        <p:spPr>
          <a:xfrm>
            <a:off x="457200" y="11430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Risque de crédit cercle"/>
          <p:cNvSpPr/>
          <p:nvPr/>
        </p:nvSpPr>
        <p:spPr>
          <a:xfrm>
            <a:off x="59436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isque de crédit icône" descr="Risque de cré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" y="15142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1615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Risque de crédit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 client ne paie pas sa facture (impayé, faillite)</a:t>
            </a:r>
            <a:endParaRPr lang="en-US" sz="1400" dirty="0"/>
          </a:p>
        </p:txBody>
      </p:sp>
      <p:sp>
        <p:nvSpPr>
          <p:cNvPr id="7" name="Risque de liquidité"/>
          <p:cNvSpPr/>
          <p:nvPr/>
        </p:nvSpPr>
        <p:spPr>
          <a:xfrm>
            <a:off x="3200400" y="114300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Risque de liquidité cercle"/>
          <p:cNvSpPr/>
          <p:nvPr/>
        </p:nvSpPr>
        <p:spPr>
          <a:xfrm>
            <a:off x="333756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Risque de liquidité icône" descr="Risque de liquidité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06" y="1514246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3360" y="121615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Risque de liquidité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L'entreprise manque de trésorerie pour payer ses dettes</a:t>
            </a:r>
            <a:endParaRPr lang="en-US" sz="1400" dirty="0"/>
          </a:p>
        </p:txBody>
      </p:sp>
      <p:sp>
        <p:nvSpPr>
          <p:cNvPr id="11" name="Risque de change"/>
          <p:cNvSpPr/>
          <p:nvPr/>
        </p:nvSpPr>
        <p:spPr>
          <a:xfrm>
            <a:off x="457200" y="23317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Risque de change cercle"/>
          <p:cNvSpPr/>
          <p:nvPr/>
        </p:nvSpPr>
        <p:spPr>
          <a:xfrm>
            <a:off x="59436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isque de change icône" descr="Risque de chan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6" y="2702966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240487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Risque de change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Les variations des devises réduisent la marge à l'export</a:t>
            </a:r>
            <a:endParaRPr lang="en-US" sz="1400" dirty="0"/>
          </a:p>
        </p:txBody>
      </p:sp>
      <p:sp>
        <p:nvSpPr>
          <p:cNvPr id="15" name="Risque de taux"/>
          <p:cNvSpPr/>
          <p:nvPr/>
        </p:nvSpPr>
        <p:spPr>
          <a:xfrm>
            <a:off x="3200400" y="23317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Risque de taux cercle"/>
          <p:cNvSpPr/>
          <p:nvPr/>
        </p:nvSpPr>
        <p:spPr>
          <a:xfrm>
            <a:off x="333756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Risque de taux icône" descr="Risque de ta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206" y="270296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23360" y="240487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Risque de taux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La hausse des taux d'intérêt renchérit les emprunts</a:t>
            </a:r>
            <a:endParaRPr lang="en-US" sz="1400" dirty="0"/>
          </a:p>
        </p:txBody>
      </p:sp>
      <p:sp>
        <p:nvSpPr>
          <p:cNvPr id="19" name="Risque de marché"/>
          <p:cNvSpPr/>
          <p:nvPr/>
        </p:nvSpPr>
        <p:spPr>
          <a:xfrm>
            <a:off x="457200" y="352044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Risque de marché cercle"/>
          <p:cNvSpPr/>
          <p:nvPr/>
        </p:nvSpPr>
        <p:spPr>
          <a:xfrm>
            <a:off x="594360" y="3749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Risque de marché icône" descr="Risque de marché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" y="389168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3593592"/>
            <a:ext cx="1645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Risque de marché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Baisse des placements ou hausse des matières premières</a:t>
            </a:r>
            <a:endParaRPr lang="en-US" sz="1400" dirty="0"/>
          </a:p>
        </p:txBody>
      </p:sp>
      <p:sp>
        <p:nvSpPr>
          <p:cNvPr id="23" name="Exemple"/>
          <p:cNvSpPr/>
          <p:nvPr/>
        </p:nvSpPr>
        <p:spPr>
          <a:xfrm>
            <a:off x="6035040" y="1143000"/>
            <a:ext cx="2651760" cy="3383280"/>
          </a:xfrm>
          <a:prstGeom prst="roundRect">
            <a:avLst>
              <a:gd name="adj" fmla="val 275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263640" y="1325880"/>
            <a:ext cx="2194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Exemple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Une PME livre 50 000 € de marchandises à son plus gros client, qui fait faillite.</a:t>
            </a:r>
            <a:endParaRPr lang="en-US" sz="18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bg1"/>
                </a:solidFill>
              </a:rPr>
              <a:t>La facture ne sera jamais payée : la PME peut à son tour manquer de trésorerie.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Prévenir les risques financiers</a:t>
            </a:r>
            <a:endParaRPr lang="en-US" sz="3000" dirty="0"/>
          </a:p>
        </p:txBody>
      </p:sp>
      <p:graphicFrame>
        <p:nvGraphicFramePr>
          <p:cNvPr id="5" name="Tableau prévention financiè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Risque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Outils de prévention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Crédit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Vérifier la solvabilité du client, demander un acompte, assurance-crédit, affacturage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Liquidité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Plan de trésorerie prévisionnel, découvert autorisé, relance des clients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Facturer en euros, couverture à terme auprès de la banque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Taux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Emprunter à taux fixe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Marché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Diversifier ses placements et ses fournisseurs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risques humains</a:t>
            </a:r>
            <a:endParaRPr lang="en-US" sz="3000" dirty="0"/>
          </a:p>
        </p:txBody>
      </p:sp>
      <p:sp>
        <p:nvSpPr>
          <p:cNvPr id="3" name="Santé et sécurité"/>
          <p:cNvSpPr/>
          <p:nvPr/>
        </p:nvSpPr>
        <p:spPr>
          <a:xfrm>
            <a:off x="457200" y="118872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anté et sécurité cercle"/>
          <p:cNvSpPr/>
          <p:nvPr/>
        </p:nvSpPr>
        <p:spPr>
          <a:xfrm>
            <a:off x="868680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Santé et sécurité icône" descr="Santé et sécurit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5956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Santé et sécurité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Accidents du travail, maladies professionnelles</a:t>
            </a:r>
            <a:endParaRPr lang="en-US" sz="1300" dirty="0"/>
          </a:p>
        </p:txBody>
      </p:sp>
      <p:sp>
        <p:nvSpPr>
          <p:cNvPr id="8" name="Risques psychosociaux"/>
          <p:cNvSpPr/>
          <p:nvPr/>
        </p:nvSpPr>
        <p:spPr>
          <a:xfrm>
            <a:off x="2121408" y="118872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Risques psychosociaux cercle"/>
          <p:cNvSpPr/>
          <p:nvPr/>
        </p:nvSpPr>
        <p:spPr>
          <a:xfrm>
            <a:off x="2532888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isques psychosociaux icône" descr="Risques psychosociau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196" y="15956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212848" y="2240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Risques psychosociaux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212848" y="2926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Stress, épuisement (burn-out), harcèlement</a:t>
            </a:r>
            <a:endParaRPr lang="en-US" sz="1300" dirty="0"/>
          </a:p>
        </p:txBody>
      </p:sp>
      <p:sp>
        <p:nvSpPr>
          <p:cNvPr id="13" name="Perte de compétences"/>
          <p:cNvSpPr/>
          <p:nvPr/>
        </p:nvSpPr>
        <p:spPr>
          <a:xfrm>
            <a:off x="3785616" y="118872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Perte de compétences cercle"/>
          <p:cNvSpPr/>
          <p:nvPr/>
        </p:nvSpPr>
        <p:spPr>
          <a:xfrm>
            <a:off x="4197096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Perte de compétences icône" descr="Perte de compéten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4" y="15956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77056" y="2240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Perte de compétences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77056" y="2926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Départ d'un salarié clé, absentéisme, turnover</a:t>
            </a:r>
            <a:endParaRPr lang="en-US" sz="1300" dirty="0"/>
          </a:p>
        </p:txBody>
      </p:sp>
      <p:sp>
        <p:nvSpPr>
          <p:cNvPr id="18" name="Conflits sociaux"/>
          <p:cNvSpPr/>
          <p:nvPr/>
        </p:nvSpPr>
        <p:spPr>
          <a:xfrm>
            <a:off x="5449824" y="118872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onflits sociaux cercle"/>
          <p:cNvSpPr/>
          <p:nvPr/>
        </p:nvSpPr>
        <p:spPr>
          <a:xfrm>
            <a:off x="5861304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Conflits sociaux icône" descr="Conflits sociau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612" y="159562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41264" y="2240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Conflits sociaux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41264" y="2926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Grève, tensions entre salariés et direction</a:t>
            </a:r>
            <a:endParaRPr lang="en-US" sz="1300" dirty="0"/>
          </a:p>
        </p:txBody>
      </p:sp>
      <p:sp>
        <p:nvSpPr>
          <p:cNvPr id="23" name="Erreur ou fraude"/>
          <p:cNvSpPr/>
          <p:nvPr/>
        </p:nvSpPr>
        <p:spPr>
          <a:xfrm>
            <a:off x="7114032" y="118872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Erreur ou fraude cercle"/>
          <p:cNvSpPr/>
          <p:nvPr/>
        </p:nvSpPr>
        <p:spPr>
          <a:xfrm>
            <a:off x="7525512" y="14173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Erreur ou fraude icône" descr="Erreur ou frau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595628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205472" y="2240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Erreur ou fraude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205472" y="2926080"/>
            <a:ext cx="1325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Erreur humaine, vol, malveillance interne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Prévenir les risques humains</a:t>
            </a:r>
            <a:endParaRPr lang="en-US" sz="3000" dirty="0"/>
          </a:p>
        </p:txBody>
      </p:sp>
      <p:sp>
        <p:nvSpPr>
          <p:cNvPr id="3" name="DUERP"/>
          <p:cNvSpPr/>
          <p:nvPr/>
        </p:nvSpPr>
        <p:spPr>
          <a:xfrm>
            <a:off x="457200" y="114300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Obligation légale</a:t>
            </a:r>
            <a:endParaRPr lang="en-US" sz="14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DUERP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Document unique d'évaluation des risques professionnels : l'employeur y recense les risques et les actions de prévention.</a:t>
            </a:r>
            <a:endParaRPr lang="en-US" sz="1400" dirty="0"/>
          </a:p>
        </p:txBody>
      </p:sp>
      <p:sp>
        <p:nvSpPr>
          <p:cNvPr id="5" name="Puce Sécurité"/>
          <p:cNvSpPr/>
          <p:nvPr/>
        </p:nvSpPr>
        <p:spPr>
          <a:xfrm>
            <a:off x="3931920" y="128016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14300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Sécurité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Formation, équipements de protection individuelle (EPI)</a:t>
            </a:r>
            <a:endParaRPr lang="en-US" sz="1600" dirty="0"/>
          </a:p>
        </p:txBody>
      </p:sp>
      <p:sp>
        <p:nvSpPr>
          <p:cNvPr id="8" name="Puce Bien-être"/>
          <p:cNvSpPr/>
          <p:nvPr/>
        </p:nvSpPr>
        <p:spPr>
          <a:xfrm>
            <a:off x="3931920" y="214884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116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Bien-être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Qualité de vie au travail, prévention du stress</a:t>
            </a:r>
            <a:endParaRPr lang="en-US" sz="1600" dirty="0"/>
          </a:p>
        </p:txBody>
      </p:sp>
      <p:sp>
        <p:nvSpPr>
          <p:cNvPr id="11" name="Puce Compétences"/>
          <p:cNvSpPr/>
          <p:nvPr/>
        </p:nvSpPr>
        <p:spPr>
          <a:xfrm>
            <a:off x="3931920" y="301752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8036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Compétences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Gestion des compétences, plan de succession des postes clés</a:t>
            </a:r>
            <a:endParaRPr lang="en-US" sz="1600" dirty="0"/>
          </a:p>
        </p:txBody>
      </p:sp>
      <p:sp>
        <p:nvSpPr>
          <p:cNvPr id="14" name="Puce Dialogue social"/>
          <p:cNvSpPr/>
          <p:nvPr/>
        </p:nvSpPr>
        <p:spPr>
          <a:xfrm>
            <a:off x="3931920" y="3886200"/>
            <a:ext cx="457200" cy="4572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7490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Dialogue social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Écoute des représentants du personnel, négociation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Les risques réputationnels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Atteinte à l'image de l'entreprise auprès des clients, des partenaires et du grand public.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Produit défectueux ou dangereux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Scandale éthique ou environnemental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« Bad buzz » sur les réseaux sociaux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Avis clients négatifs en ligne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Comportement d'un dirigeant ou d'un salarié</a:t>
            </a:r>
            <a:endParaRPr lang="en-US" sz="1500" dirty="0"/>
          </a:p>
        </p:txBody>
      </p:sp>
      <p:sp>
        <p:nvSpPr>
          <p:cNvPr id="5" name="Volkswagen, 2015"/>
          <p:cNvSpPr/>
          <p:nvPr/>
        </p:nvSpPr>
        <p:spPr>
          <a:xfrm>
            <a:off x="4846320" y="109728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Volkswagen, 2015 cercle"/>
          <p:cNvSpPr/>
          <p:nvPr/>
        </p:nvSpPr>
        <p:spPr>
          <a:xfrm>
            <a:off x="5029200" y="13258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Volkswagen, 2015 icône" descr="Volkswagen, 20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1846" y="146852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60720" y="12344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Volkswagen, 2015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« Dieselgate » : un logiciel truquait les tests antipollution de millions de véhicules diesel.</a:t>
            </a:r>
            <a:endParaRPr lang="en-US" sz="1600" dirty="0"/>
          </a:p>
        </p:txBody>
      </p:sp>
      <p:sp>
        <p:nvSpPr>
          <p:cNvPr id="9" name="Buitoni, 2022"/>
          <p:cNvSpPr/>
          <p:nvPr/>
        </p:nvSpPr>
        <p:spPr>
          <a:xfrm>
            <a:off x="4846320" y="2834640"/>
            <a:ext cx="38404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uitoni, 2022 cercle"/>
          <p:cNvSpPr/>
          <p:nvPr/>
        </p:nvSpPr>
        <p:spPr>
          <a:xfrm>
            <a:off x="5029200" y="30632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Buitoni, 2022 icône" descr="Buitoni, 202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46" y="32058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2971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Buitoni, 2022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Des pizzas contaminées à la bactérie E. coli entraînent un rappel massif et la fermeture d'une usine.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Gérer le risque réputationnel</a:t>
            </a:r>
            <a:endParaRPr lang="en-US" sz="3000" dirty="0"/>
          </a:p>
        </p:txBody>
      </p:sp>
      <p:sp>
        <p:nvSpPr>
          <p:cNvPr id="3" name="Avant la crise"/>
          <p:cNvSpPr/>
          <p:nvPr/>
        </p:nvSpPr>
        <p:spPr>
          <a:xfrm>
            <a:off x="457200" y="118872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vant la crise ce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Avant la crise icône" descr="Avant la cr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5261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Avant la crise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Veille de l'e-réputation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Démarche RSE, charte éthique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 de communication de crise</a:t>
            </a:r>
            <a:endParaRPr lang="en-US" sz="1400" dirty="0"/>
          </a:p>
        </p:txBody>
      </p:sp>
      <p:pic>
        <p:nvPicPr>
          <p:cNvPr id="8" name="Flèche 1" descr="flè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697480"/>
            <a:ext cx="182880" cy="182880"/>
          </a:xfrm>
          <a:prstGeom prst="rect">
            <a:avLst/>
          </a:prstGeom>
        </p:spPr>
      </p:pic>
      <p:sp>
        <p:nvSpPr>
          <p:cNvPr id="9" name="Pendant la crise"/>
          <p:cNvSpPr/>
          <p:nvPr/>
        </p:nvSpPr>
        <p:spPr>
          <a:xfrm>
            <a:off x="3291840" y="118872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endant la crise cercle"/>
          <p:cNvSpPr/>
          <p:nvPr/>
        </p:nvSpPr>
        <p:spPr>
          <a:xfrm>
            <a:off x="3474720" y="13716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endant la crise icône" descr="Pendant la cri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254" y="152613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206240" y="1371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Pendant la crise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47472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Réagir vite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Être transparent, reconnaître les faits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seul porte-parole</a:t>
            </a:r>
            <a:endParaRPr lang="en-US" sz="1400" dirty="0"/>
          </a:p>
        </p:txBody>
      </p:sp>
      <p:pic>
        <p:nvPicPr>
          <p:cNvPr id="14" name="Flèche 2" descr="flè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697480"/>
            <a:ext cx="182880" cy="182880"/>
          </a:xfrm>
          <a:prstGeom prst="rect">
            <a:avLst/>
          </a:prstGeom>
        </p:spPr>
      </p:pic>
      <p:sp>
        <p:nvSpPr>
          <p:cNvPr id="15" name="Après la crise"/>
          <p:cNvSpPr/>
          <p:nvPr/>
        </p:nvSpPr>
        <p:spPr>
          <a:xfrm>
            <a:off x="6126480" y="118872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Après la crise cercle"/>
          <p:cNvSpPr/>
          <p:nvPr/>
        </p:nvSpPr>
        <p:spPr>
          <a:xfrm>
            <a:off x="6309360" y="137160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Après la crise icône" descr="Après la cri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894" y="1526134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40880" y="137160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Après la crise</a:t>
            </a:r>
            <a:endParaRPr lang="en-US" sz="1700" dirty="0"/>
          </a:p>
        </p:txBody>
      </p:sp>
      <p:sp>
        <p:nvSpPr>
          <p:cNvPr id="19" name="Text 12"/>
          <p:cNvSpPr txBox="1"/>
          <p:nvPr/>
        </p:nvSpPr>
        <p:spPr>
          <a:xfrm>
            <a:off x="6309360" y="219456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Mesures correctives visibles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Regagner la confiance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Tirer les leçons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 risques liés entre eux : l'effet domino</a:t>
            </a:r>
            <a:endParaRPr lang="en-US" sz="3000" dirty="0"/>
          </a:p>
        </p:txBody>
      </p:sp>
      <p:sp>
        <p:nvSpPr>
          <p:cNvPr id="3" name="Risque humain cercle"/>
          <p:cNvSpPr/>
          <p:nvPr/>
        </p:nvSpPr>
        <p:spPr>
          <a:xfrm>
            <a:off x="1325880" y="12344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Risque humain icône" descr="Risque hum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1448410"/>
            <a:ext cx="395021" cy="3950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Risque humain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grave accident survient dans un atelier mal sécurisé</a:t>
            </a:r>
            <a:endParaRPr lang="en-US" sz="1400" dirty="0"/>
          </a:p>
        </p:txBody>
      </p:sp>
      <p:pic>
        <p:nvPicPr>
          <p:cNvPr id="7" name="Flèche domino 1" descr="flèc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63040"/>
            <a:ext cx="365760" cy="365760"/>
          </a:xfrm>
          <a:prstGeom prst="rect">
            <a:avLst/>
          </a:prstGeom>
        </p:spPr>
      </p:pic>
      <p:sp>
        <p:nvSpPr>
          <p:cNvPr id="8" name="Risque réputationnel cercle"/>
          <p:cNvSpPr/>
          <p:nvPr/>
        </p:nvSpPr>
        <p:spPr>
          <a:xfrm>
            <a:off x="4160520" y="1234440"/>
            <a:ext cx="822960" cy="8229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Risque réputationnel icône" descr="Risque réputation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90" y="1448410"/>
            <a:ext cx="395021" cy="39502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2918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Risque réputationnel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338328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Les médias et les réseaux sociaux s'emparent de l'affaire</a:t>
            </a:r>
            <a:endParaRPr lang="en-US" sz="1400" dirty="0"/>
          </a:p>
        </p:txBody>
      </p:sp>
      <p:pic>
        <p:nvPicPr>
          <p:cNvPr id="12" name="Flèche domino 2" descr="flèch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463040"/>
            <a:ext cx="365760" cy="365760"/>
          </a:xfrm>
          <a:prstGeom prst="rect">
            <a:avLst/>
          </a:prstGeom>
        </p:spPr>
      </p:pic>
      <p:sp>
        <p:nvSpPr>
          <p:cNvPr id="13" name="Risque financier cercle"/>
          <p:cNvSpPr/>
          <p:nvPr/>
        </p:nvSpPr>
        <p:spPr>
          <a:xfrm>
            <a:off x="6995160" y="12344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Risque financier icône" descr="Risque financi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130" y="1448410"/>
            <a:ext cx="395021" cy="395021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Risque financier</a:t>
            </a:r>
            <a:endParaRPr lang="en-US" sz="1800" dirty="0"/>
          </a:p>
        </p:txBody>
      </p:sp>
      <p:sp>
        <p:nvSpPr>
          <p:cNvPr id="16" name="Text 9"/>
          <p:cNvSpPr txBox="1"/>
          <p:nvPr/>
        </p:nvSpPr>
        <p:spPr>
          <a:xfrm>
            <a:off x="6217920" y="2651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Clients perdus, amendes, baisse du chiffre d'affaires</a:t>
            </a:r>
            <a:endParaRPr lang="en-US" sz="1400" dirty="0"/>
          </a:p>
        </p:txBody>
      </p:sp>
      <p:sp>
        <p:nvSpPr>
          <p:cNvPr id="17" name="Message clé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seul événement peut déclencher les trois types de risques : il faut les gérer ensemble.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La cartographie des risques</a:t>
            </a:r>
            <a:endParaRPr lang="en-US" sz="3000" dirty="0"/>
          </a:p>
        </p:txBody>
      </p:sp>
      <p:sp>
        <p:nvSpPr>
          <p:cNvPr id="3" name="Transférer"/>
          <p:cNvSpPr/>
          <p:nvPr/>
        </p:nvSpPr>
        <p:spPr>
          <a:xfrm>
            <a:off x="1097280" y="114300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280160" y="11430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Transférer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Rare mais grave : s'assurer</a:t>
            </a:r>
            <a:endParaRPr lang="en-US" sz="1700" dirty="0"/>
          </a:p>
        </p:txBody>
      </p:sp>
      <p:sp>
        <p:nvSpPr>
          <p:cNvPr id="5" name="Éviter / priorité"/>
          <p:cNvSpPr/>
          <p:nvPr/>
        </p:nvSpPr>
        <p:spPr>
          <a:xfrm>
            <a:off x="3566160" y="114300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4D3D3"/>
          </a:solidFill>
          <a:ln w="12700">
            <a:solidFill>
              <a:srgbClr val="F4D3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49040" y="114300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Éviter / priorité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Fréquent et grave : agir tout de suite</a:t>
            </a:r>
            <a:endParaRPr lang="en-US" sz="1700" dirty="0"/>
          </a:p>
        </p:txBody>
      </p:sp>
      <p:sp>
        <p:nvSpPr>
          <p:cNvPr id="7" name="Accepter"/>
          <p:cNvSpPr/>
          <p:nvPr/>
        </p:nvSpPr>
        <p:spPr>
          <a:xfrm>
            <a:off x="1097280" y="283464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83464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Accepter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Rare et peu grave : surveiller</a:t>
            </a:r>
            <a:endParaRPr lang="en-US" sz="1700" dirty="0"/>
          </a:p>
        </p:txBody>
      </p:sp>
      <p:sp>
        <p:nvSpPr>
          <p:cNvPr id="9" name="Réduire"/>
          <p:cNvSpPr/>
          <p:nvPr/>
        </p:nvSpPr>
        <p:spPr>
          <a:xfrm>
            <a:off x="3566160" y="2834640"/>
            <a:ext cx="2377440" cy="1600200"/>
          </a:xfrm>
          <a:prstGeom prst="roundRect">
            <a:avLst>
              <a:gd name="adj" fmla="val 457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834640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Réduire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Fréquent mais peu grave : prévenir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2880" y="11430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Gravité ↑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480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Probabilité →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14300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On classe chaque risque selon sa probabilité et sa gravité pour décider de la réponse adaptée.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B27A"/>
                </a:solidFill>
              </a:rPr>
              <a:t>À RETENIR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Identifier, évaluer, prévenir</a:t>
            </a:r>
            <a:endParaRPr lang="en-US" sz="3800" dirty="0"/>
          </a:p>
        </p:txBody>
      </p:sp>
      <p:sp>
        <p:nvSpPr>
          <p:cNvPr id="4" name="À retenir 1 cercle"/>
          <p:cNvSpPr/>
          <p:nvPr/>
        </p:nvSpPr>
        <p:spPr>
          <a:xfrm>
            <a:off x="548640" y="2331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À retenir 1 icône" descr="À retenir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24743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3317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Financiers : protéger la trésorerie (assurance-crédit, plan de trésorerie, couverture)</a:t>
            </a:r>
            <a:endParaRPr lang="en-US" sz="1600" dirty="0"/>
          </a:p>
        </p:txBody>
      </p:sp>
      <p:sp>
        <p:nvSpPr>
          <p:cNvPr id="7" name="À retenir 2 cercle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À retenir 2 icône" descr="À retenir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25160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1089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Humains : protéger les salariés (DUERP, formation, qualité de vie au travail)</a:t>
            </a:r>
            <a:endParaRPr lang="en-US" sz="1600" dirty="0"/>
          </a:p>
        </p:txBody>
      </p:sp>
      <p:sp>
        <p:nvSpPr>
          <p:cNvPr id="10" name="À retenir 3 cercle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À retenir 3 icône" descr="À retenir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0288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8862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Réputationnels : protéger l'image (veille, RSE, communication de crise)</a:t>
            </a:r>
            <a:endParaRPr lang="en-US" sz="1600" dirty="0"/>
          </a:p>
        </p:txBody>
      </p:sp>
      <p:sp>
        <p:nvSpPr>
          <p:cNvPr id="14" name="Text 0"/>
          <p:cNvSpPr/>
          <p:nvPr>
            <p:ph idx="102" type="body" hasCustomPrompt="1"/>
          </p:nvPr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ques">
  <a:themeElements>
    <a:clrScheme name="Risques">
      <a:dk1>
        <a:srgbClr val="1B2430"/>
      </a:dk1>
      <a:lt1>
        <a:srgbClr val="FFFFFF"/>
      </a:lt1>
      <a:dk2>
        <a:srgbClr val="4A5566"/>
      </a:dk2>
      <a:lt2>
        <a:srgbClr val="F1F3F6"/>
      </a:lt2>
      <a:accent1>
        <a:srgbClr val="1F7A8C"/>
      </a:accent1>
      <a:accent2>
        <a:srgbClr val="D9822B"/>
      </a:accent2>
      <a:accent3>
        <a:srgbClr val="B83A3A"/>
      </a:accent3>
      <a:accent4>
        <a:srgbClr val="6C7A89"/>
      </a:accent4>
      <a:accent5>
        <a:srgbClr val="DCEDF1"/>
      </a:accent5>
      <a:accent6>
        <a:srgbClr val="FBEBDA"/>
      </a:accent6>
      <a:hlink>
        <a:srgbClr val="1F7A8C"/>
      </a:hlink>
      <a:folHlink>
        <a:srgbClr val="6C7A89"/>
      </a:folHlink>
    </a:clrScheme>
    <a:fontScheme name="Risqu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8 - Les risques financiers, humains et réputationnels</dc:title>
  <dc:subject>PptxGenJS Presentation</dc:subject>
  <dc:creator>PptxGenJS</dc:creator>
  <cp:lastModifiedBy>PptxGenJS</cp:lastModifiedBy>
  <cp:revision>1</cp:revision>
  <dcterms:created xsi:type="dcterms:W3CDTF">2026-10-27T20:35:31Z</dcterms:created>
  <dcterms:modified xsi:type="dcterms:W3CDTF">2026-10-27T20:35:31Z</dcterms:modified>
</cp:coreProperties>
</file>
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ie 8" id="{63d765a4-560b-e99f-c4cc-ec92127142b0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in India : l'Inde impose de produire localement, donc LMT doit trouver un partenaire indien et assembler sur place. L'accord de libre-échange UE-Inde n'est pas encore en vigueur (espéré pour 2027), donc les conditions commerciales actuelles restent plus contraignantes.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droits de douane américains sur les produits indiens sont montés à 50 % en août 2025, puis redescendus à 18 % en février 2026 : cette instabilité est un risque. À l'inverse, la demande des hôpitaux indiens en dispositifs médicaux importés est favorable à LMT, du moins en théorie.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200" kern="0" dirty="0">
                <a:solidFill>
                  <a:srgbClr val="E9B27A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1DB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8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8. RISQUES FINANCIERS, HUMAINS ET RÉPUTATIONNELS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 accès au marché indien sous contraintes</a:t>
            </a:r>
            <a:endParaRPr lang="en-US" sz="2800" dirty="0"/>
          </a:p>
        </p:txBody>
      </p:sp>
      <p:sp>
        <p:nvSpPr>
          <p:cNvPr id="4" name="Make in India"/>
          <p:cNvSpPr/>
          <p:nvPr/>
        </p:nvSpPr>
        <p:spPr>
          <a:xfrm>
            <a:off x="457200" y="132588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Make in India cercle"/>
          <p:cNvSpPr/>
          <p:nvPr/>
        </p:nvSpPr>
        <p:spPr>
          <a:xfrm>
            <a:off x="685800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Make in India icône" descr="Make in Ind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7327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08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Politique « Make in India »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L'Inde favorise la production locale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Pour entrer sur le marché, LMT doit passer par :</a:t>
            </a:r>
            <a:endParaRPr lang="en-US" sz="1400" dirty="0"/>
          </a:p>
        </p:txBody>
      </p:sp>
      <p:sp>
        <p:nvSpPr>
          <p:cNvPr id="9" name="un partenariat local cercle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un partenariat local icône" descr="un partenariat loc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1363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partenariat local</a:t>
            </a:r>
            <a:endParaRPr lang="en-US" sz="1600" dirty="0"/>
          </a:p>
        </p:txBody>
      </p:sp>
      <p:sp>
        <p:nvSpPr>
          <p:cNvPr id="12" name="un assemblage sur place cercle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un assemblage sur place icône" descr="un assemblage sur pl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82219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assemblage sur place</a:t>
            </a:r>
            <a:endParaRPr lang="en-US" sz="1600" dirty="0"/>
          </a:p>
        </p:txBody>
      </p:sp>
      <p:sp>
        <p:nvSpPr>
          <p:cNvPr id="15" name="Accord UE-Inde"/>
          <p:cNvSpPr/>
          <p:nvPr/>
        </p:nvSpPr>
        <p:spPr>
          <a:xfrm>
            <a:off x="4709160" y="132588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Accord UE-Inde cercle"/>
          <p:cNvSpPr/>
          <p:nvPr/>
        </p:nvSpPr>
        <p:spPr>
          <a:xfrm>
            <a:off x="493776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Accord UE-Inde icône" descr="Accord UE-In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068" y="17327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760720" y="1508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Accord UE-Inde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Pas encore en vigueur</a:t>
            </a:r>
            <a:endParaRPr lang="en-US" sz="1800" dirty="0"/>
          </a:p>
        </p:txBody>
      </p:sp>
      <p:sp>
        <p:nvSpPr>
          <p:cNvPr id="19" name="Frise"/>
          <p:cNvSpPr/>
          <p:nvPr/>
        </p:nvSpPr>
        <p:spPr>
          <a:xfrm>
            <a:off x="5212080" y="2971800"/>
            <a:ext cx="30175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20" name="Point aujourd'hui"/>
          <p:cNvSpPr/>
          <p:nvPr/>
        </p:nvSpPr>
        <p:spPr>
          <a:xfrm>
            <a:off x="5074920" y="28346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oint 2027"/>
          <p:cNvSpPr/>
          <p:nvPr/>
        </p:nvSpPr>
        <p:spPr>
          <a:xfrm>
            <a:off x="8092440" y="2834640"/>
            <a:ext cx="274320" cy="2743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754880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Aujourd'hui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0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2027 ?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937760" y="33375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Entrée en vigueur espérée pour 2027 : d'ici là, le régime commercial actuel reste plus contraignant.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8. RISQUES FINANCIERS, HUMAINS ET RÉPUTATIONNELS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 risque américain, mais une demande porteuse</a:t>
            </a:r>
            <a:endParaRPr lang="en-US" sz="2800" dirty="0"/>
          </a:p>
        </p:txBody>
      </p:sp>
      <p:sp>
        <p:nvSpPr>
          <p:cNvPr id="4" name="Risque américain cercle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Risque américain icône" descr="Risque améric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4685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80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Risque américain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Droits de douane des États-Unis sur les produits indiens</a:t>
            </a:r>
            <a:endParaRPr lang="en-US" sz="1800" dirty="0"/>
          </a:p>
        </p:txBody>
      </p:sp>
      <p:sp>
        <p:nvSpPr>
          <p:cNvPr id="7" name="Tarif août 2025"/>
          <p:cNvSpPr/>
          <p:nvPr/>
        </p:nvSpPr>
        <p:spPr>
          <a:xfrm>
            <a:off x="457200" y="2240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240280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50 %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août 2025</a:t>
            </a:r>
            <a:endParaRPr lang="en-US" sz="4400" dirty="0"/>
          </a:p>
        </p:txBody>
      </p:sp>
      <p:sp>
        <p:nvSpPr>
          <p:cNvPr id="9" name="Tarif février 2026"/>
          <p:cNvSpPr/>
          <p:nvPr/>
        </p:nvSpPr>
        <p:spPr>
          <a:xfrm>
            <a:off x="2834640" y="2240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34640" y="2240280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18 %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février 2026</a:t>
            </a:r>
            <a:endParaRPr lang="en-US" sz="4400" dirty="0"/>
          </a:p>
        </p:txBody>
      </p:sp>
      <p:pic>
        <p:nvPicPr>
          <p:cNvPr id="11" name="Flèche baisse" descr="flèch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28803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Une politique douanière instable qui crée de l'incertitude.</a:t>
            </a:r>
            <a:endParaRPr lang="en-US" sz="1400" dirty="0"/>
          </a:p>
        </p:txBody>
      </p:sp>
      <p:sp>
        <p:nvSpPr>
          <p:cNvPr id="13" name="Opportunité"/>
          <p:cNvSpPr/>
          <p:nvPr/>
        </p:nvSpPr>
        <p:spPr>
          <a:xfrm>
            <a:off x="5166360" y="1325880"/>
            <a:ext cx="3520440" cy="3200400"/>
          </a:xfrm>
          <a:prstGeom prst="roundRect">
            <a:avLst>
              <a:gd name="adj" fmla="val 2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Hôpitaux cercle"/>
          <p:cNvSpPr/>
          <p:nvPr/>
        </p:nvSpPr>
        <p:spPr>
          <a:xfrm>
            <a:off x="5394960" y="155448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Hôpital couleur" descr="hôpi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268" y="17327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En revanche : une opportunité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394960" y="2468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Les hôpitaux indiens font augmenter la demande en dispositifs médicaux importés.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 théorie, un contexte favorable pour LMT.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ques">
  <a:themeElements>
    <a:clrScheme name="Risques">
      <a:dk1>
        <a:srgbClr val="1B2430"/>
      </a:dk1>
      <a:lt1>
        <a:srgbClr val="FFFFFF"/>
      </a:lt1>
      <a:dk2>
        <a:srgbClr val="4A5566"/>
      </a:dk2>
      <a:lt2>
        <a:srgbClr val="F1F3F6"/>
      </a:lt2>
      <a:accent1>
        <a:srgbClr val="1F7A8C"/>
      </a:accent1>
      <a:accent2>
        <a:srgbClr val="D9822B"/>
      </a:accent2>
      <a:accent3>
        <a:srgbClr val="B83A3A"/>
      </a:accent3>
      <a:accent4>
        <a:srgbClr val="6C7A89"/>
      </a:accent4>
      <a:accent5>
        <a:srgbClr val="DCEDF1"/>
      </a:accent5>
      <a:accent6>
        <a:srgbClr val="FBEBDA"/>
      </a:accent6>
      <a:hlink>
        <a:srgbClr val="1F7A8C"/>
      </a:hlink>
      <a:folHlink>
        <a:srgbClr val="6C7A89"/>
      </a:folHlink>
    </a:clrScheme>
    <a:fontScheme name="Risqu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8 - Les risques financiers, humains et réputationnels</dc:title>
  <dc:subject>PptxGenJS Presentation</dc:subject>
  <dc:creator>PptxGenJS</dc:creator>
  <cp:lastModifiedBy>PptxGenJS</cp:lastModifiedBy>
  <cp:revision>1</cp:revision>
  <dcterms:created xsi:type="dcterms:W3CDTF">2026-10-27T20:36:39Z</dcterms:created>
  <dcterms:modified xsi:type="dcterms:W3CDTF">2026-10-27T20:36:39Z</dcterms:modified>
</cp:coreProperties>
</file>
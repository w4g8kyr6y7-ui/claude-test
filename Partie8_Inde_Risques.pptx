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isques financiers, humains et réputationnels" id="{fab45ce1-89db-8c6c-3b97-40cc333c2e54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in India : l'Inde impose de produire localement, donc LMT doit trouver un partenaire indien et assembler sur place. L'accord UE-Inde n'est pas encore en vigueur (espéré pour 2027), donc les conditions commerciales actuelles restent plus contraignantes.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droits de douane américains sur les produits indiens sont montés à 50 % en août 2025, puis redescendus à 18 % en février 2026 : cette instabilité est un risque. À l'inverse, la demande des hôpitaux indiens en dispositifs médicaux importés est favorable à LMT, du moins en théorie.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ndea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86384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0"/>
            <a:ext cx="8321040" cy="7863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11480" y="914400"/>
            <a:ext cx="83210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0"/>
            <a:ext cx="8321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Risques financiers, humains et réputationnels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9144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Un accès au marché indien sous contraintes</a:t>
            </a:r>
            <a:endParaRPr lang="en-US" sz="1800" dirty="0"/>
          </a:p>
        </p:txBody>
      </p:sp>
      <p:sp>
        <p:nvSpPr>
          <p:cNvPr id="4" name="Make in India"/>
          <p:cNvSpPr/>
          <p:nvPr/>
        </p:nvSpPr>
        <p:spPr>
          <a:xfrm>
            <a:off x="411480" y="1463040"/>
            <a:ext cx="4069080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Make in India cercle"/>
          <p:cNvSpPr/>
          <p:nvPr/>
        </p:nvSpPr>
        <p:spPr>
          <a:xfrm>
            <a:off x="594360" y="1627632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Make in India icône" descr="Make in Ind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87652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00200"/>
            <a:ext cx="2971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Politique « Make in India »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L'Inde favorise la production locale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423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Pour entrer sur le marché, LMT doit passer par :</a:t>
            </a:r>
            <a:endParaRPr lang="en-US" sz="1400" dirty="0"/>
          </a:p>
        </p:txBody>
      </p:sp>
      <p:sp>
        <p:nvSpPr>
          <p:cNvPr id="9" name="un partenariat local cercle"/>
          <p:cNvSpPr/>
          <p:nvPr/>
        </p:nvSpPr>
        <p:spPr>
          <a:xfrm>
            <a:off x="731520" y="283464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un partenariat local icône" descr="un partenariat loc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2939796"/>
            <a:ext cx="210312" cy="2103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28346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 partenariat local</a:t>
            </a:r>
            <a:endParaRPr lang="en-US" sz="1500" dirty="0"/>
          </a:p>
        </p:txBody>
      </p:sp>
      <p:sp>
        <p:nvSpPr>
          <p:cNvPr id="12" name="un assemblage sur place cercle"/>
          <p:cNvSpPr/>
          <p:nvPr/>
        </p:nvSpPr>
        <p:spPr>
          <a:xfrm>
            <a:off x="731520" y="34015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un assemblage sur place icône" descr="un assemblage sur pl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3506724"/>
            <a:ext cx="210312" cy="2103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4015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 assemblage sur place</a:t>
            </a:r>
            <a:endParaRPr lang="en-US" sz="1500" dirty="0"/>
          </a:p>
        </p:txBody>
      </p:sp>
      <p:sp>
        <p:nvSpPr>
          <p:cNvPr id="15" name="Accord UE-Inde"/>
          <p:cNvSpPr/>
          <p:nvPr/>
        </p:nvSpPr>
        <p:spPr>
          <a:xfrm>
            <a:off x="4663440" y="1463040"/>
            <a:ext cx="4069080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ccord UE-Inde cercle"/>
          <p:cNvSpPr/>
          <p:nvPr/>
        </p:nvSpPr>
        <p:spPr>
          <a:xfrm>
            <a:off x="4846320" y="1627632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Accord UE-Inde icône" descr="Accord UE-In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787652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623560" y="1600200"/>
            <a:ext cx="2971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Accord UE-Inde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Pas encore en vigueur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Aujourd'hui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63524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2027 ?</a:t>
            </a:r>
            <a:endParaRPr lang="en-US" sz="1300" dirty="0"/>
          </a:p>
        </p:txBody>
      </p:sp>
      <p:sp>
        <p:nvSpPr>
          <p:cNvPr id="21" name="Frise"/>
          <p:cNvSpPr/>
          <p:nvPr/>
        </p:nvSpPr>
        <p:spPr>
          <a:xfrm>
            <a:off x="5120640" y="2880360"/>
            <a:ext cx="32004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22" name="Point aujourd'hui"/>
          <p:cNvSpPr/>
          <p:nvPr/>
        </p:nvSpPr>
        <p:spPr>
          <a:xfrm>
            <a:off x="4983480" y="274320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Point 2027"/>
          <p:cNvSpPr/>
          <p:nvPr/>
        </p:nvSpPr>
        <p:spPr>
          <a:xfrm>
            <a:off x="8229600" y="2743200"/>
            <a:ext cx="274320" cy="27432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846320" y="320040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Entrée en vigueur espérée pour 2027 : d'ici là, le régime commercial actuel reste plus contraignant.</a:t>
            </a:r>
            <a:endParaRPr lang="en-US" sz="1400" dirty="0"/>
          </a:p>
        </p:txBody>
      </p:sp>
      <p:sp>
        <p:nvSpPr>
          <p:cNvPr id="25" name="Message clé"/>
          <p:cNvSpPr/>
          <p:nvPr/>
        </p:nvSpPr>
        <p:spPr>
          <a:xfrm>
            <a:off x="411480" y="4251960"/>
            <a:ext cx="832104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Message clé cercle"/>
          <p:cNvSpPr/>
          <p:nvPr/>
        </p:nvSpPr>
        <p:spPr>
          <a:xfrm>
            <a:off x="566928" y="43342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Message clé icône" descr="Message cl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" y="44485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188720" y="4251960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Message clé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Entrer en Inde impose d'adapter le modèle d'implantation de LMT.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0"/>
            <a:ext cx="8321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Risques financiers, humains et réputationnels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411480" y="9144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Un risque américain, mais une demande porteuse</a:t>
            </a:r>
            <a:endParaRPr lang="en-US" sz="1800" dirty="0"/>
          </a:p>
        </p:txBody>
      </p:sp>
      <p:sp>
        <p:nvSpPr>
          <p:cNvPr id="4" name="Risque américain"/>
          <p:cNvSpPr/>
          <p:nvPr/>
        </p:nvSpPr>
        <p:spPr>
          <a:xfrm>
            <a:off x="411480" y="1463040"/>
            <a:ext cx="4434840" cy="2606040"/>
          </a:xfrm>
          <a:prstGeom prst="roundRect">
            <a:avLst>
              <a:gd name="adj" fmla="val 2807"/>
            </a:avLst>
          </a:prstGeom>
          <a:solidFill>
            <a:schemeClr val="bg1"/>
          </a:solidFill>
          <a:ln w="12700">
            <a:solidFill>
              <a:srgbClr val="C9D8EA"/>
            </a:solidFill>
            <a:prstDash val="solid"/>
          </a:ln>
        </p:spPr>
      </p:sp>
      <p:sp>
        <p:nvSpPr>
          <p:cNvPr id="5" name="Risque américain cercle"/>
          <p:cNvSpPr/>
          <p:nvPr/>
        </p:nvSpPr>
        <p:spPr>
          <a:xfrm>
            <a:off x="594360" y="1600200"/>
            <a:ext cx="594360" cy="5943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Risque américain icône" descr="Risque améric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74879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5544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Risque américain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Droits de douane des États-Unis sur les produits indiens</a:t>
            </a:r>
            <a:endParaRPr lang="en-US" sz="1700" dirty="0"/>
          </a:p>
        </p:txBody>
      </p:sp>
      <p:sp>
        <p:nvSpPr>
          <p:cNvPr id="8" name="Tarif août 2025"/>
          <p:cNvSpPr/>
          <p:nvPr/>
        </p:nvSpPr>
        <p:spPr>
          <a:xfrm>
            <a:off x="640080" y="2423160"/>
            <a:ext cx="1783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423160"/>
            <a:ext cx="1783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3"/>
                </a:solidFill>
              </a:rPr>
              <a:t>50 %</a:t>
            </a:r>
            <a:endParaRPr lang="en-US" sz="3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août 2025</a:t>
            </a:r>
            <a:endParaRPr lang="en-US" sz="3800" dirty="0"/>
          </a:p>
        </p:txBody>
      </p:sp>
      <p:sp>
        <p:nvSpPr>
          <p:cNvPr id="10" name="Tarif février 2026"/>
          <p:cNvSpPr/>
          <p:nvPr/>
        </p:nvSpPr>
        <p:spPr>
          <a:xfrm>
            <a:off x="2834640" y="2423160"/>
            <a:ext cx="1783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34640" y="2423160"/>
            <a:ext cx="1783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18 %</a:t>
            </a:r>
            <a:endParaRPr lang="en-US" sz="3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février 2026</a:t>
            </a:r>
            <a:endParaRPr lang="en-US" sz="3800" dirty="0"/>
          </a:p>
        </p:txBody>
      </p:sp>
      <p:pic>
        <p:nvPicPr>
          <p:cNvPr id="12" name="Flèche" descr="flèch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990088"/>
            <a:ext cx="274320" cy="274320"/>
          </a:xfrm>
          <a:prstGeom prst="rect">
            <a:avLst/>
          </a:prstGeom>
        </p:spPr>
      </p:pic>
      <p:sp>
        <p:nvSpPr>
          <p:cNvPr id="13" name="Opportunité"/>
          <p:cNvSpPr/>
          <p:nvPr/>
        </p:nvSpPr>
        <p:spPr>
          <a:xfrm>
            <a:off x="5029200" y="1463040"/>
            <a:ext cx="3703320" cy="2606040"/>
          </a:xfrm>
          <a:prstGeom prst="roundRect">
            <a:avLst>
              <a:gd name="adj" fmla="val 280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Hôpitaux cercle"/>
          <p:cNvSpPr/>
          <p:nvPr/>
        </p:nvSpPr>
        <p:spPr>
          <a:xfrm>
            <a:off x="521208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Hôpitaux icône" descr="Hôpitau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0670" y="174879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43600" y="16002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 revanche : une opportunité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212080" y="2377440"/>
            <a:ext cx="3337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Les hôpitaux indiens font augmenter la demande en dispositifs médicaux importés.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En théorie, un contexte favorable pour LMT.</a:t>
            </a:r>
            <a:endParaRPr lang="en-US" sz="1500" dirty="0"/>
          </a:p>
        </p:txBody>
      </p:sp>
      <p:sp>
        <p:nvSpPr>
          <p:cNvPr id="18" name="Message clé"/>
          <p:cNvSpPr/>
          <p:nvPr/>
        </p:nvSpPr>
        <p:spPr>
          <a:xfrm>
            <a:off x="411480" y="4251960"/>
            <a:ext cx="8321040" cy="621792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essage clé cercle"/>
          <p:cNvSpPr/>
          <p:nvPr/>
        </p:nvSpPr>
        <p:spPr>
          <a:xfrm>
            <a:off x="566928" y="43342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Message clé icône" descr="Message cl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" y="4448556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4251960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Message clé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 politique douanière instable, mais un besoin médical réel.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MT Inde">
  <a:themeElements>
    <a:clrScheme name="LMT Inde">
      <a:dk1>
        <a:srgbClr val="1F2865"/>
      </a:dk1>
      <a:lt1>
        <a:srgbClr val="FFFFFF"/>
      </a:lt1>
      <a:dk2>
        <a:srgbClr val="3B4A6B"/>
      </a:dk2>
      <a:lt2>
        <a:srgbClr val="EAF2FB"/>
      </a:lt2>
      <a:accent1>
        <a:srgbClr val="1F5FA8"/>
      </a:accent1>
      <a:accent2>
        <a:srgbClr val="0F3D7A"/>
      </a:accent2>
      <a:accent3>
        <a:srgbClr val="C0392B"/>
      </a:accent3>
      <a:accent4>
        <a:srgbClr val="6B7A90"/>
      </a:accent4>
      <a:accent5>
        <a:srgbClr val="D6E6F7"/>
      </a:accent5>
      <a:accent6>
        <a:srgbClr val="E8873A"/>
      </a:accent6>
      <a:hlink>
        <a:srgbClr val="1F5FA8"/>
      </a:hlink>
      <a:folHlink>
        <a:srgbClr val="6B7A90"/>
      </a:folHlink>
    </a:clrScheme>
    <a:fontScheme name="LMT Ind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Risques financiers, humains et réputationnels</dc:title>
  <dc:subject>PptxGenJS Presentation</dc:subject>
  <dc:creator>PptxGenJS</dc:creator>
  <cp:lastModifiedBy>PptxGenJS</cp:lastModifiedBy>
  <cp:revision>1</cp:revision>
  <dcterms:created xsi:type="dcterms:W3CDTF">2026-10-27T20:52:44Z</dcterms:created>
  <dcterms:modified xsi:type="dcterms:W3CDTF">2026-10-27T20:52:44Z</dcterms:modified>
</cp:coreProperties>
</file>